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0bcc8a2a414b99" /><Relationship Type="http://schemas.openxmlformats.org/officeDocument/2006/relationships/extended-properties" Target="/docProps/app.xml" Id="R703deb4f4fb64daf" /><Relationship Type="http://schemas.openxmlformats.org/officeDocument/2006/relationships/officeDocument" Target="/ppt/presentation.xml" Id="R74ca1c22d2a5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11e49b996488b"/>
  </p:sldMasterIdLst>
  <p:notesMasterIdLst>
    <p:notesMasterId xmlns:r="http://schemas.openxmlformats.org/officeDocument/2006/relationships" r:id="Rbb1274e71a61408e"/>
  </p:notesMasterIdLst>
  <p:sldIdLst>
    <p:sldId xmlns:r="http://schemas.openxmlformats.org/officeDocument/2006/relationships" id="256" r:id="R51a8fd83e4334515"/>
    <p:sldId xmlns:r="http://schemas.openxmlformats.org/officeDocument/2006/relationships" id="257" r:id="Rc8c01b0566b442e8"/>
    <p:sldId xmlns:r="http://schemas.openxmlformats.org/officeDocument/2006/relationships" id="258" r:id="R47557cf6ad4448e7"/>
    <p:sldId xmlns:r="http://schemas.openxmlformats.org/officeDocument/2006/relationships" id="259" r:id="Rf7a9caf50921486d"/>
    <p:sldId xmlns:r="http://schemas.openxmlformats.org/officeDocument/2006/relationships" id="260" r:id="Re6e423b0e7a448af"/>
    <p:sldId xmlns:r="http://schemas.openxmlformats.org/officeDocument/2006/relationships" id="261" r:id="R4cdbcd3c8cd44db2"/>
    <p:sldId xmlns:r="http://schemas.openxmlformats.org/officeDocument/2006/relationships" id="262" r:id="R52d5a825361240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6005c734b94d73" /><Relationship Type="http://schemas.openxmlformats.org/officeDocument/2006/relationships/slideMaster" Target="/ppt/slideMasters/slideMaster1.xml" Id="R5f411e49b996488b" /><Relationship Type="http://schemas.openxmlformats.org/officeDocument/2006/relationships/notesMaster" Target="/ppt/notesMasters/notesMaster1.xml" Id="Rbb1274e71a61408e" /><Relationship Type="http://schemas.openxmlformats.org/officeDocument/2006/relationships/presProps" Target="/ppt/presProps.xml" Id="R7fb18403988e44a5" /><Relationship Type="http://schemas.openxmlformats.org/officeDocument/2006/relationships/tableStyles" Target="/ppt/tableStyles.xml" Id="Rdaaea7a64aaf433c" /><Relationship Type="http://schemas.openxmlformats.org/officeDocument/2006/relationships/slide" Target="/ppt/slides/slide1.xml" Id="R51a8fd83e4334515" /><Relationship Type="http://schemas.openxmlformats.org/officeDocument/2006/relationships/slide" Target="/ppt/slides/slide2.xml" Id="Rc8c01b0566b442e8" /><Relationship Type="http://schemas.openxmlformats.org/officeDocument/2006/relationships/slide" Target="/ppt/slides/slide3.xml" Id="R47557cf6ad4448e7" /><Relationship Type="http://schemas.openxmlformats.org/officeDocument/2006/relationships/slide" Target="/ppt/slides/slide4.xml" Id="Rf7a9caf50921486d" /><Relationship Type="http://schemas.openxmlformats.org/officeDocument/2006/relationships/slide" Target="/ppt/slides/slide5.xml" Id="Re6e423b0e7a448af" /><Relationship Type="http://schemas.openxmlformats.org/officeDocument/2006/relationships/slide" Target="/ppt/slides/slide6.xml" Id="R4cdbcd3c8cd44db2" /><Relationship Type="http://schemas.openxmlformats.org/officeDocument/2006/relationships/slide" Target="/ppt/slides/slide7.xml" Id="R52d5a825361240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4d3ecb684f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4f1a46f9314127" /><Relationship Type="http://schemas.openxmlformats.org/officeDocument/2006/relationships/notesMaster" Target="/ppt/notesMasters/notesMaster1.xml" Id="Rfdb38f6c584d47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f4c22d365a4bdc" /><Relationship Type="http://schemas.openxmlformats.org/officeDocument/2006/relationships/notesMaster" Target="/ppt/notesMasters/notesMaster1.xml" Id="Reb61b14cf50a4b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e8194ec4d54cf7" /><Relationship Type="http://schemas.openxmlformats.org/officeDocument/2006/relationships/notesMaster" Target="/ppt/notesMasters/notesMaster1.xml" Id="R1715d10fd495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88efe2a99f4a6f" /><Relationship Type="http://schemas.openxmlformats.org/officeDocument/2006/relationships/notesMaster" Target="/ppt/notesMasters/notesMaster1.xml" Id="R22a3ef865506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ce64fdc1745d5" /><Relationship Type="http://schemas.openxmlformats.org/officeDocument/2006/relationships/notesMaster" Target="/ppt/notesMasters/notesMaster1.xml" Id="Rd5bf2a4e4740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f61db072f44fed" /><Relationship Type="http://schemas.openxmlformats.org/officeDocument/2006/relationships/notesMaster" Target="/ppt/notesMasters/notesMaster1.xml" Id="R738e63faca2f41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2c959e0da485e" /><Relationship Type="http://schemas.openxmlformats.org/officeDocument/2006/relationships/notesMaster" Target="/ppt/notesMasters/notesMaster1.xml" Id="R38f834ef3db4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ba951926845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ac987636242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788ec5aca47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6c5ce72354d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a1f99b7ad41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5c12b5aaf41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6BD79B-19B2-4272-A9BA-73F0BA8BE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657DD4-0B96-42C3-9E44-B04D12A633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CFEC1B-8404-4918-9126-6D051E0FF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095188-520F-43B2-B824-4B37D641C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330FEB-4088-4F6F-A5DE-A85FEC371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911333-85A5-403F-8DE8-08BD4149C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61479E-B172-4A47-AAF4-53E6A88C51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7A911D-0C01-4E30-93C1-DED9ED2F98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A2646-B89C-46B5-AE84-89C699E25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19373-F12B-4965-8A5F-47D4BCD9B4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22d0f5b3ef4beb" /><Relationship Type="http://schemas.openxmlformats.org/officeDocument/2006/relationships/slideLayout" Target="/ppt/slideLayouts/slideLayout1.xml" Id="R8df9cae092a84442" /><Relationship Type="http://schemas.openxmlformats.org/officeDocument/2006/relationships/slideLayout" Target="/ppt/slideLayouts/slideLayout2.xml" Id="Rede2fc6f15144a33" /><Relationship Type="http://schemas.openxmlformats.org/officeDocument/2006/relationships/slideLayout" Target="/ppt/slideLayouts/slideLayout3.xml" Id="R39e41e41fb024adb" /><Relationship Type="http://schemas.openxmlformats.org/officeDocument/2006/relationships/slideLayout" Target="/ppt/slideLayouts/slideLayout4.xml" Id="R36202e9c4371424b" /><Relationship Type="http://schemas.openxmlformats.org/officeDocument/2006/relationships/slideLayout" Target="/ppt/slideLayouts/slideLayout5.xml" Id="Ra0d4c9a265294b59" /><Relationship Type="http://schemas.openxmlformats.org/officeDocument/2006/relationships/slideLayout" Target="/ppt/slideLayouts/slideLayout6.xml" Id="R8b537c52de04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9cae092a84442"/>
    <p:sldLayoutId xmlns:r="http://schemas.openxmlformats.org/officeDocument/2006/relationships" id="2147483650" r:id="Rede2fc6f15144a33"/>
    <p:sldLayoutId xmlns:r="http://schemas.openxmlformats.org/officeDocument/2006/relationships" id="2147483651" r:id="R39e41e41fb024adb"/>
    <p:sldLayoutId xmlns:r="http://schemas.openxmlformats.org/officeDocument/2006/relationships" id="2147483652" r:id="R36202e9c4371424b"/>
    <p:sldLayoutId xmlns:r="http://schemas.openxmlformats.org/officeDocument/2006/relationships" id="2147483653" r:id="Ra0d4c9a265294b59"/>
    <p:sldLayoutId xmlns:r="http://schemas.openxmlformats.org/officeDocument/2006/relationships" id="2147483654" r:id="R8b537c52de04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846889ef94e65" /><Relationship Type="http://schemas.openxmlformats.org/officeDocument/2006/relationships/notesSlide" Target="/ppt/notesSlides/notesSlide1.xml" Id="Rbeffbc5a49fc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d665fe3334036" /><Relationship Type="http://schemas.openxmlformats.org/officeDocument/2006/relationships/notesSlide" Target="/ppt/notesSlides/notesSlide2.xml" Id="R9437548e349940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89f613a1a4027" /><Relationship Type="http://schemas.openxmlformats.org/officeDocument/2006/relationships/notesSlide" Target="/ppt/notesSlides/notesSlide3.xml" Id="R688247ec08dd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ac8bea84c4510" /><Relationship Type="http://schemas.openxmlformats.org/officeDocument/2006/relationships/notesSlide" Target="/ppt/notesSlides/notesSlide4.xml" Id="Rb30bae8b252644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0738bb777430b" /><Relationship Type="http://schemas.openxmlformats.org/officeDocument/2006/relationships/notesSlide" Target="/ppt/notesSlides/notesSlide5.xml" Id="R05e5bd4c8fd743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914761a404001" /><Relationship Type="http://schemas.openxmlformats.org/officeDocument/2006/relationships/notesSlide" Target="/ppt/notesSlides/notesSlide6.xml" Id="Rd5c4d34a17a74b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8a985c20c4318" /><Relationship Type="http://schemas.openxmlformats.org/officeDocument/2006/relationships/notesSlide" Target="/ppt/notesSlides/notesSlide7.xml" Id="Rc44dfb510e3f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7DEFC-BE63-4ADF-9461-2C70B36C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30383-F327-4C21-9418-63ECB7A5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Predicting decline in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patient-reported physical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7F6F2-689E-4E09-B39C-C2899DC2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7D4DF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7D4DF"/>
                </a:solidFill>
              </a:defRPr>
            </a:pPr>
            <a:r>
              <a:rPr sz="2025" b="0">
                <a:solidFill>
                  <a:srgbClr val="B7D4DF"/>
                </a:solidFill>
              </a:rPr>
              <a:t>Cancer patients receiving chemotherapy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FF9F8-B31D-443A-A723-51401E5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Machine learning mini project  •  Educational synthetic-data reproduction</a:t>
            </a:r>
          </a:p>
        </p:txBody>
      </p:sp>
    </p:spTree>
    <p:extLst>
      <p:ext uri="{BB962C8B-B14F-4D97-AF65-F5344CB8AC3E}">
        <p14:creationId xmlns:p14="http://schemas.microsoft.com/office/powerpoint/2010/main" val="2062871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37781-DD41-44D6-86EA-1EE559F5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Research question and source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D3C02-8B4A-4CE2-B7FA-F80324E4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86665-CE9B-48F9-BD70-1BFFE98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B7FCC-4585-48F0-BD65-616D4D5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Can pre-treatment information predict a ≥10-point drop in PROMIS Global Physical Health during chemotherapy?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9EEA4-8E1B-484D-A926-A1CEE894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49332-7740-46B0-9E7D-3EA58ED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Source: Ostberg &amp; Peterson (Stanford CS229, 2020)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D1DE0-0053-4205-A1BA-A91928C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5259B-3169-41EC-AA2F-DA9C3E1A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Original cohort: 1,252 patients from restricted STARR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95842-05A7-4358-85F7-FDF5EFB7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8C958-75DA-4CDC-97FD-183E51D2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Published best AUROC for decline outcome: 0.7713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DD89A-7DA7-4A14-82D4-884EF32B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Ostberg &amp; Peterson (2020), cs229.stanford.edu/proj2020spr/report/Ostberg_Peterson.pdf</a:t>
            </a:r>
          </a:p>
        </p:txBody>
      </p:sp>
    </p:spTree>
    <p:extLst>
      <p:ext uri="{BB962C8B-B14F-4D97-AF65-F5344CB8AC3E}">
        <p14:creationId xmlns:p14="http://schemas.microsoft.com/office/powerpoint/2010/main" val="700600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BF2B4-901D-4F2A-8595-E23DDDB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Data and prediction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71C85-D0E1-40E4-A7AF-DD504C5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59924-312B-41BB-845D-3D0FFD12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57F2-1968-4D82-90D0-99E85D4E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7D80"/>
                </a:solidFill>
              </a:defRPr>
            </a:pPr>
            <a:r>
              <a:rPr sz="2325" b="1">
                <a:solidFill>
                  <a:srgbClr val="007D80"/>
                </a:solidFill>
              </a:rPr>
              <a:t>This reproduction uses 1,252 fictional patient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FAE50-859D-417F-B703-3A1D004F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Inputs known before chemotherapy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C6C4C-E041-43B2-B227-2D6014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857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Age, baseline GPH and GMH, stage, treatment goal, comorbidity, utilization, hemoglobin, albumin, BMI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F7CD9-A4DF-4BA7-8E48-BAEA14FE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24125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FD226-50AF-4AC6-9691-38DBA22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Binary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05383-4113-4A26-9384-B97554B8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4305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On-treatment GPH</a:t>
            </a:r>
          </a:p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minus baseline GPH ≤ −10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103F-4977-471C-9161-1B9944A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005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57086"/>
                </a:solidFill>
              </a:defRPr>
            </a:pPr>
            <a:r>
              <a:rPr sz="1425" b="0">
                <a:solidFill>
                  <a:srgbClr val="557086"/>
                </a:solidFill>
              </a:rPr>
              <a:t>Later GPH creates the label only. It is excluded from predictors.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1F965-546F-47B7-BF88-86E01C9C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Synthetic data; no STARR patient records used.</a:t>
            </a:r>
          </a:p>
        </p:txBody>
      </p:sp>
    </p:spTree>
    <p:extLst>
      <p:ext uri="{BB962C8B-B14F-4D97-AF65-F5344CB8AC3E}">
        <p14:creationId xmlns:p14="http://schemas.microsoft.com/office/powerpoint/2010/main" val="1397924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AD354-09D5-4E3E-A0A9-9681A1CC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Modeling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163F4-D71C-42EC-81DA-5F423E9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4D8FC-C3AB-4F1E-8AE7-7FC2B96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8A9F3-9522-4297-8450-0DDE016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8EE07-D4F8-4C91-83DB-C6816F1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764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Stratified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DE631-94F6-42BB-94D0-255715D1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049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1,001 train / 251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FCD0B-04D5-47D2-8F48-E11F4B19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33CF0-1FA0-42CF-BBB8-1F7E4CCF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8D215-F281-419A-89E4-7C79269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051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Fold-safe 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61090-BD28-44AF-8A6D-7BC5A209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336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Imputation, scaling, one-hot encoding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78F0F-BE6E-4F1A-B74E-7107F912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A33EC-AA9A-4802-9ED3-5D3CBB97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F14B-B8A6-4ACE-B255-72A3C81B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338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Five-fold 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C6337-02A8-4421-A756-E910FE9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623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Logistic regression vs 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82F54-301F-4F97-8E1C-402CDA1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3A570-BE25-4B40-AA8D-2848E3EF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6F026-3F4B-4A8A-9AEC-7D46A12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625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Held-out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F7F1A-E512-4345-854E-8DB12468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910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AUROC, precision, Brier, sensitivity, specificity</a:t>
            </a:r>
          </a:p>
        </p:txBody>
      </p:sp>
    </p:spTree>
    <p:extLst>
      <p:ext uri="{BB962C8B-B14F-4D97-AF65-F5344CB8AC3E}">
        <p14:creationId xmlns:p14="http://schemas.microsoft.com/office/powerpoint/2010/main" val="1086783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5662A-8919-46D8-BC89-96CE56D4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Results on synthetic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FA66C-2B7B-4542-9966-646F0652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6D0FF-FDD4-45E4-A699-EC9FB34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C47B1-A51C-401E-B107-13EB92F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007D80"/>
                </a:solidFill>
              </a:defRPr>
            </a:pPr>
            <a:r>
              <a:rPr sz="4425" b="1">
                <a:solidFill>
                  <a:srgbClr val="007D80"/>
                </a:solidFill>
              </a:rPr>
              <a:t>0.6833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BEA71-E84B-464D-BB32-82DC0B3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Logistic CV AUROC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CC090-5FB1-4208-A96D-779861EF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24025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02A43"/>
                </a:solidFill>
              </a:defRPr>
            </a:pPr>
            <a:r>
              <a:rPr sz="4425" b="1">
                <a:solidFill>
                  <a:srgbClr val="102A43"/>
                </a:solidFill>
              </a:rPr>
              <a:t>0.6596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F84DB-FCE4-426D-A8C0-5704E7A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Random forest CV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0C6ED-9F0A-431B-8C1C-45FAE0E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29FDA-B195-4BF3-B5E3-D3E41ADC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762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07D80"/>
                </a:solidFill>
              </a:defRPr>
            </a:pPr>
            <a:r>
              <a:rPr sz="5400" b="1">
                <a:solidFill>
                  <a:srgbClr val="007D80"/>
                </a:solidFill>
              </a:rPr>
              <a:t>0.7514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F81F9-C822-4ADA-9BD2-53FCB24B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Held-out AUROC of selected logistic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6E19E-12EE-4D4F-A0A5-523672D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86"/>
                </a:solidFill>
              </a:defRPr>
            </a:pPr>
            <a:r>
              <a:rPr sz="1500" b="0">
                <a:solidFill>
                  <a:srgbClr val="557086"/>
                </a:solidFill>
              </a:rPr>
              <a:t>Average precision 0.5962  •  Brier score 0.1916  •  Baseline AUROC 0.5000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33C5-B042-4BC1-B3F8-88A62538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Synthetic test set (n=251). These numbers do not measure clinical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87796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95E2C-8943-4445-9BAD-38D427AE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Local interactive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7EDE2-49E3-49C8-91B8-96D26353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07CB5-AB84-4E2D-8AE0-E58AC6E5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80275-07B3-4AC6-B15D-FE9B0D2A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Enter a baseline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671C5-93CE-4FBC-BF3E-87F81CB5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19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Change age, PROMIS scores, utilization, labs, stage, and treatment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E417A-14E4-46E2-9C07-684A88D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04975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D605-6C88-45A5-B8BA-C4E9514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View an illustrative probability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70EE4-C2A9-4C01-8DD5-0F9074DE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33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The browser calculates a logistic-regression output. Inputs remain local to the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F534B-7EF0-48C2-8207-FA1A9B9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Run: python -m http.server 8000 --directory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12052-D6A2-4E58-9FE9-5E218313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Open http://localhost:8000 after running the server from the repository root.</a:t>
            </a:r>
          </a:p>
        </p:txBody>
      </p:sp>
    </p:spTree>
    <p:extLst>
      <p:ext uri="{BB962C8B-B14F-4D97-AF65-F5344CB8AC3E}">
        <p14:creationId xmlns:p14="http://schemas.microsoft.com/office/powerpoint/2010/main" val="290375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C3B43-D975-4C36-B876-8FE8A390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Interpretation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34ACF-4A61-48C6-878D-EE029655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8742B-8493-483D-B9B9-055B5A2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FCB11-6FF5-4C0E-9D37-BF5AF90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21E4E-A94A-4811-9AB9-DAAE044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Synthetic labels follow a chosen simulation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2AAFC-BDBD-432F-9E72-B15A8D2F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D4357-B6AD-4173-9079-C49AAA3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The eleven inputs are fewer than the original study’s EHR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8FFF5-EDF5-45DE-AC00-D595A728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58276-4715-41F8-AC7D-F7AD0E2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Clinical use would require authorized real data and external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837DC-894D-46BC-B372-06515BF5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6A09D-82D4-4B0F-AE0B-7A9B881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Missing surveys, calibration, and subgroup performance need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6337F-3EC4-492F-8A7E-E73B01A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856C4-B7A7-4C63-AAC5-404CC9C9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Educational model only — never use this probability to guide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CDA85-4ED0-4503-A431-2E4C85A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Source: Ostberg &amp; Peterson (2020); PROMIS information: promishealth.org/healthmeasures/</a:t>
            </a:r>
          </a:p>
        </p:txBody>
      </p:sp>
    </p:spTree>
    <p:extLst>
      <p:ext uri="{BB962C8B-B14F-4D97-AF65-F5344CB8AC3E}">
        <p14:creationId xmlns:p14="http://schemas.microsoft.com/office/powerpoint/2010/main" val="69534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2026-10-08T10:30:28.9770000Z</dcterms:created>
  <dcterms:modified xsi:type="dcterms:W3CDTF">2026-10-08T10:30:28.9770000Z</dcterms:modified>
</coreProperties>
</file>