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ad74a116546eb" /><Relationship Type="http://schemas.openxmlformats.org/officeDocument/2006/relationships/extended-properties" Target="/docProps/app.xml" Id="Rf76b56d0dd8f4927" /><Relationship Type="http://schemas.openxmlformats.org/officeDocument/2006/relationships/officeDocument" Target="/ppt/presentation.xml" Id="R10e0ae17fe7f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8cfdfd69f4962"/>
  </p:sldMasterIdLst>
  <p:notesMasterIdLst>
    <p:notesMasterId xmlns:r="http://schemas.openxmlformats.org/officeDocument/2006/relationships" r:id="R42ad341ed5ca479b"/>
  </p:notesMasterIdLst>
  <p:sldIdLst>
    <p:sldId xmlns:r="http://schemas.openxmlformats.org/officeDocument/2006/relationships" id="256" r:id="Rb23317fa3e524372"/>
    <p:sldId xmlns:r="http://schemas.openxmlformats.org/officeDocument/2006/relationships" id="257" r:id="Rf6f9d779e5cb4dce"/>
    <p:sldId xmlns:r="http://schemas.openxmlformats.org/officeDocument/2006/relationships" id="258" r:id="Ra8fb58f6bfca492a"/>
    <p:sldId xmlns:r="http://schemas.openxmlformats.org/officeDocument/2006/relationships" id="259" r:id="R355e613ab00647dd"/>
    <p:sldId xmlns:r="http://schemas.openxmlformats.org/officeDocument/2006/relationships" id="260" r:id="R8f0acf06a3dd4c2e"/>
    <p:sldId xmlns:r="http://schemas.openxmlformats.org/officeDocument/2006/relationships" id="261" r:id="Rd4c52caa4bae4a6f"/>
    <p:sldId xmlns:r="http://schemas.openxmlformats.org/officeDocument/2006/relationships" id="262" r:id="Rb51e3edfa8a643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d7bc85d434494" /><Relationship Type="http://schemas.openxmlformats.org/officeDocument/2006/relationships/slideMaster" Target="/ppt/slideMasters/slideMaster1.xml" Id="R43b8cfdfd69f4962" /><Relationship Type="http://schemas.openxmlformats.org/officeDocument/2006/relationships/notesMaster" Target="/ppt/notesMasters/notesMaster1.xml" Id="R42ad341ed5ca479b" /><Relationship Type="http://schemas.openxmlformats.org/officeDocument/2006/relationships/presProps" Target="/ppt/presProps.xml" Id="Rfa732c1d17cf43f0" /><Relationship Type="http://schemas.openxmlformats.org/officeDocument/2006/relationships/tableStyles" Target="/ppt/tableStyles.xml" Id="R74b5179951b945c4" /><Relationship Type="http://schemas.openxmlformats.org/officeDocument/2006/relationships/slide" Target="/ppt/slides/slide1.xml" Id="Rb23317fa3e524372" /><Relationship Type="http://schemas.openxmlformats.org/officeDocument/2006/relationships/slide" Target="/ppt/slides/slide2.xml" Id="Rf6f9d779e5cb4dce" /><Relationship Type="http://schemas.openxmlformats.org/officeDocument/2006/relationships/slide" Target="/ppt/slides/slide3.xml" Id="Ra8fb58f6bfca492a" /><Relationship Type="http://schemas.openxmlformats.org/officeDocument/2006/relationships/slide" Target="/ppt/slides/slide4.xml" Id="R355e613ab00647dd" /><Relationship Type="http://schemas.openxmlformats.org/officeDocument/2006/relationships/slide" Target="/ppt/slides/slide5.xml" Id="R8f0acf06a3dd4c2e" /><Relationship Type="http://schemas.openxmlformats.org/officeDocument/2006/relationships/slide" Target="/ppt/slides/slide6.xml" Id="Rd4c52caa4bae4a6f" /><Relationship Type="http://schemas.openxmlformats.org/officeDocument/2006/relationships/slide" Target="/ppt/slides/slide7.xml" Id="Rb51e3edfa8a6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12da8fa06148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5755bdd95248d8" /><Relationship Type="http://schemas.openxmlformats.org/officeDocument/2006/relationships/notesMaster" Target="/ppt/notesMasters/notesMaster1.xml" Id="Rf5a4a703dc084b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e1248e248443aa" /><Relationship Type="http://schemas.openxmlformats.org/officeDocument/2006/relationships/notesMaster" Target="/ppt/notesMasters/notesMaster1.xml" Id="R873e149ddcfb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b53b7a35874214" /><Relationship Type="http://schemas.openxmlformats.org/officeDocument/2006/relationships/notesMaster" Target="/ppt/notesMasters/notesMaster1.xml" Id="Refdaabd8af52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9cabeb54a4db2" /><Relationship Type="http://schemas.openxmlformats.org/officeDocument/2006/relationships/notesMaster" Target="/ppt/notesMasters/notesMaster1.xml" Id="Rfcf4e87e040a48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6192dabc24ddb" /><Relationship Type="http://schemas.openxmlformats.org/officeDocument/2006/relationships/notesMaster" Target="/ppt/notesMasters/notesMaster1.xml" Id="Ra18ff097c48e43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6b7687a1904445" /><Relationship Type="http://schemas.openxmlformats.org/officeDocument/2006/relationships/notesMaster" Target="/ppt/notesMasters/notesMaster1.xml" Id="Rab60748fb6f445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5098e8071402f" /><Relationship Type="http://schemas.openxmlformats.org/officeDocument/2006/relationships/notesMaster" Target="/ppt/notesMasters/notesMaster1.xml" Id="Rfeecd229e39f44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8be12fd66643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124fbaec14e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9e6c2f0ae47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817656d3c4f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83f44cd7d45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3c16e4970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FCFD03-FF8B-4370-9885-14908AD70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ABA83A-1A88-4C6B-9855-0950F2E9ED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353EBF-A6B1-4ACB-84A5-CC45E4D8D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CB615C-5D49-42F6-82A3-1EA17F093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E94E9A-C49F-482B-80BA-5FFE165AE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4A4DFC-803D-49CD-A96E-9E515F6D3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13DA5F-8DA6-4973-91DA-0DBACF8F4D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E5670A-9C83-40D6-A2EF-C4C299319C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E9FAEB-3B8B-4D20-AD54-5698BFEF7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3F5D47-239E-4806-A966-D6676EBE8B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766889fedd4756" /><Relationship Type="http://schemas.openxmlformats.org/officeDocument/2006/relationships/slideLayout" Target="/ppt/slideLayouts/slideLayout1.xml" Id="Rbc610892540d4641" /><Relationship Type="http://schemas.openxmlformats.org/officeDocument/2006/relationships/slideLayout" Target="/ppt/slideLayouts/slideLayout2.xml" Id="Rca7b232651ed4809" /><Relationship Type="http://schemas.openxmlformats.org/officeDocument/2006/relationships/slideLayout" Target="/ppt/slideLayouts/slideLayout3.xml" Id="R88de5ab630ac4203" /><Relationship Type="http://schemas.openxmlformats.org/officeDocument/2006/relationships/slideLayout" Target="/ppt/slideLayouts/slideLayout4.xml" Id="Rf941ef82f0a4480d" /><Relationship Type="http://schemas.openxmlformats.org/officeDocument/2006/relationships/slideLayout" Target="/ppt/slideLayouts/slideLayout5.xml" Id="Rb9d936bf1d5c4faa" /><Relationship Type="http://schemas.openxmlformats.org/officeDocument/2006/relationships/slideLayout" Target="/ppt/slideLayouts/slideLayout6.xml" Id="R07e3f0311f36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610892540d4641"/>
    <p:sldLayoutId xmlns:r="http://schemas.openxmlformats.org/officeDocument/2006/relationships" id="2147483650" r:id="Rca7b232651ed4809"/>
    <p:sldLayoutId xmlns:r="http://schemas.openxmlformats.org/officeDocument/2006/relationships" id="2147483651" r:id="R88de5ab630ac4203"/>
    <p:sldLayoutId xmlns:r="http://schemas.openxmlformats.org/officeDocument/2006/relationships" id="2147483652" r:id="Rf941ef82f0a4480d"/>
    <p:sldLayoutId xmlns:r="http://schemas.openxmlformats.org/officeDocument/2006/relationships" id="2147483653" r:id="Rb9d936bf1d5c4faa"/>
    <p:sldLayoutId xmlns:r="http://schemas.openxmlformats.org/officeDocument/2006/relationships" id="2147483654" r:id="R07e3f0311f36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76602fc5547ac" /><Relationship Type="http://schemas.openxmlformats.org/officeDocument/2006/relationships/notesSlide" Target="/ppt/notesSlides/notesSlide1.xml" Id="R7239395642a3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67364f60c4517" /><Relationship Type="http://schemas.openxmlformats.org/officeDocument/2006/relationships/notesSlide" Target="/ppt/notesSlides/notesSlide2.xml" Id="R6ad9ecbcc621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de1d567744ab1" /><Relationship Type="http://schemas.openxmlformats.org/officeDocument/2006/relationships/notesSlide" Target="/ppt/notesSlides/notesSlide3.xml" Id="R43e21b0b25b641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a967bd82443cf" /><Relationship Type="http://schemas.openxmlformats.org/officeDocument/2006/relationships/notesSlide" Target="/ppt/notesSlides/notesSlide4.xml" Id="R76d5782d0ee5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00d89048d4ad8" /><Relationship Type="http://schemas.openxmlformats.org/officeDocument/2006/relationships/notesSlide" Target="/ppt/notesSlides/notesSlide5.xml" Id="Rba307969f81e43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3ef43133544657" /><Relationship Type="http://schemas.openxmlformats.org/officeDocument/2006/relationships/notesSlide" Target="/ppt/notesSlides/notesSlide6.xml" Id="R0eb0f11c18d9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c2f4e527748dc" /><Relationship Type="http://schemas.openxmlformats.org/officeDocument/2006/relationships/notesSlide" Target="/ppt/notesSlides/notesSlide7.xml" Id="Rf05dfb6026c24e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EA629-6B6A-423B-8432-EBD9740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6775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D6A0-CD17-4173-8199-6D108D65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Predicting quality-of-life decline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</a:defRPr>
            </a:pPr>
            <a:r>
              <a:rPr sz="3825" b="1">
                <a:solidFill>
                  <a:srgbClr val="FFFFFF"/>
                </a:solidFill>
              </a:rPr>
              <a:t>after chemotherapy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84505-3C9B-434B-AA37-35E9F1CD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7D4DF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7D4DF"/>
                </a:solidFill>
              </a:defRPr>
            </a:pPr>
            <a:r>
              <a:rPr sz="2025" b="0">
                <a:solidFill>
                  <a:srgbClr val="B7D4DF"/>
                </a:solidFill>
              </a:rPr>
              <a:t>Real public breast cancer cohort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94A68-C235-4032-BA6C-BB00700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Machine learning mini project  •  Public EORTC QLQ-C30 data</a:t>
            </a:r>
          </a:p>
        </p:txBody>
      </p:sp>
    </p:spTree>
    <p:extLst>
      <p:ext uri="{BB962C8B-B14F-4D97-AF65-F5344CB8AC3E}">
        <p14:creationId xmlns:p14="http://schemas.microsoft.com/office/powerpoint/2010/main" val="1511269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18ABE-5BB1-4173-9321-3AB89364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Research question and public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6D68-0C3D-4129-98C4-974E4F5A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A12B0-6FBD-46A9-837C-B8C5299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C150A-9931-46D8-8269-BD462E3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Can baseline scores predict a ≥10-point drop in EORTC global health status after adjuvant chemotherapy?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BA626-6C0E-4287-AE9F-763C72B5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8EE8-D0F6-4A51-A289-5833E160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Public cohort: Carmona-Bayonas et al. (2021)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7683D-C8FD-4397-A3F6-D5F827BB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914D9-9C92-45A9-9DB6-8AC57B83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339 records; 217 have paired baseline and end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B1A69-2E43-44BD-8FC0-7717B1B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918A7-2FDE-4659-A0FD-146DAFA7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Different questionnaire and timing from the Stanford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F1FEE-79DA-4118-B763-B3C85A4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Source: doi.org/10.1038/s41523-021-00296-8; data: doi.org/10.6084/m9.figshare.14681274</a:t>
            </a:r>
          </a:p>
        </p:txBody>
      </p:sp>
    </p:spTree>
    <p:extLst>
      <p:ext uri="{BB962C8B-B14F-4D97-AF65-F5344CB8AC3E}">
        <p14:creationId xmlns:p14="http://schemas.microsoft.com/office/powerpoint/2010/main" val="982207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6B7D8-0335-4F74-8B99-EF5C6FD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Data and prediction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5A862-8F93-4B19-A4E9-328C0AEC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59397-18D7-43F0-AD1B-BBBC9B6F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37B7-1208-41A4-B126-405C070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7D80"/>
                </a:solidFill>
              </a:defRPr>
            </a:pPr>
            <a:r>
              <a:rPr sz="2325" b="1">
                <a:solidFill>
                  <a:srgbClr val="007D80"/>
                </a:solidFill>
              </a:rPr>
              <a:t>This analysis uses 217 paired real patient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9AE16-6B29-4606-8CDE-2E49733B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Inputs known before chemotherapy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35BB5-A7B8-42B8-9515-BC66A89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857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EORTC global health, functioning, fatigue, nausea, pain, and surgery 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E581F-1E98-4BBF-8AEE-EF4BF8D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24125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C6FF8-0944-489E-B977-D24EDC6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Binary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0DE52-513B-4ED8-BC90-293FA3DD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4305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End global health</a:t>
            </a:r>
          </a:p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minus baseline ≤ −10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38E73-66B5-42CE-9994-405B3D5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005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57086"/>
                </a:solidFill>
              </a:defRPr>
            </a:pPr>
            <a:r>
              <a:rPr sz="1425" b="0">
                <a:solidFill>
                  <a:srgbClr val="557086"/>
                </a:solidFill>
              </a:rPr>
              <a:t>End-of-treatment fields create the label only. They are excluded from predictors.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8694D-E035-4559-8285-F350C121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EORTC QLQ-C30, 0–100 scale. Assessment occurs at treatment completion.</a:t>
            </a:r>
          </a:p>
        </p:txBody>
      </p:sp>
    </p:spTree>
    <p:extLst>
      <p:ext uri="{BB962C8B-B14F-4D97-AF65-F5344CB8AC3E}">
        <p14:creationId xmlns:p14="http://schemas.microsoft.com/office/powerpoint/2010/main" val="1174738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7623F-64C7-4B77-A4B5-BEE0E35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Modeling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E6320-E66D-44C0-8CD1-8D5E48D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925C7-188C-4F3A-B53F-097444D1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6CE17-23E7-4CA2-BFE5-7422CD2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2297C-87D8-49AE-B106-8B19A01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6764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Stratified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E5BEF-CEE0-436C-AF33-147EFD0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049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173 train / 44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36EEA-6EDE-413B-AF3A-42EA2622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30B32-C5E6-400A-945C-6693EED1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58BD-384E-44F6-ACF9-7CF0EFA7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051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Fold-safe 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A7A9F-B952-4F97-B155-F3C84915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336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Imputation, scaling, one-hot encoding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5D7A5-801A-4487-B7AD-501421ED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CD8D8-66FE-4F72-BC0A-F78F4AEC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69AB0-6840-4462-9C80-B7C4DE5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338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Five-fold 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DDA4A-6C4C-4795-8A23-A39089E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623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Logistic regression vs random forest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45306-CC59-4498-8C19-AEB8BD18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56291-C897-4F27-9F4B-6EB26595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74945-841C-4159-A587-9C11D44B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625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Held-out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EC914-076A-4A57-8BFC-EB8BC03D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79107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AUROC, precision, Brier, sensitivity, specificity</a:t>
            </a:r>
          </a:p>
        </p:txBody>
      </p:sp>
    </p:spTree>
    <p:extLst>
      <p:ext uri="{BB962C8B-B14F-4D97-AF65-F5344CB8AC3E}">
        <p14:creationId xmlns:p14="http://schemas.microsoft.com/office/powerpoint/2010/main" val="776903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B8C1A-CE09-4151-AD4D-CA405394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Results on public patient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67E2F-4B02-4DC9-B1D6-34367499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3D211-A99E-4A71-ADC2-C9D57B8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1484A-5E52-400A-8753-B9E40909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007D80"/>
                </a:solidFill>
              </a:defRPr>
            </a:pPr>
            <a:r>
              <a:rPr sz="4425" b="1">
                <a:solidFill>
                  <a:srgbClr val="007D80"/>
                </a:solidFill>
              </a:rPr>
              <a:t>0.7884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D9992-C529-4DF4-A133-508E662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Logistic CV AUROC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63977-DCF2-41D8-86A2-9A0432C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24025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02A43"/>
                </a:solidFill>
              </a:defRPr>
            </a:pPr>
            <a:r>
              <a:rPr sz="4425" b="1">
                <a:solidFill>
                  <a:srgbClr val="102A43"/>
                </a:solidFill>
              </a:rPr>
              <a:t>0.7696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1E4FE-D82A-4720-B59D-B03DCCD7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086"/>
                </a:solidFill>
              </a:defRPr>
            </a:pPr>
            <a:r>
              <a:rPr sz="1650" b="0">
                <a:solidFill>
                  <a:srgbClr val="557086"/>
                </a:solidFill>
              </a:rPr>
              <a:t>Random forest CV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65627-4287-427C-8DDE-976C00A2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08595-369D-4E47-A2DE-FB31E58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762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07D80"/>
                </a:solidFill>
              </a:defRPr>
            </a:pPr>
            <a:r>
              <a:rPr sz="5400" b="1">
                <a:solidFill>
                  <a:srgbClr val="007D80"/>
                </a:solidFill>
              </a:rPr>
              <a:t>0.7422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1AE01-183A-4D5B-B5D8-9CED81A4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A43"/>
                </a:solidFill>
              </a:defRPr>
            </a:pPr>
            <a:r>
              <a:rPr sz="2175" b="1">
                <a:solidFill>
                  <a:srgbClr val="102A43"/>
                </a:solidFill>
              </a:rPr>
              <a:t>Held-out AUROC of selected logistic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81B0F-DEDA-4C66-AF47-351A8FC9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57086"/>
                </a:solidFill>
              </a:defRPr>
            </a:pPr>
            <a:r>
              <a:rPr sz="1500" b="0">
                <a:solidFill>
                  <a:srgbClr val="557086"/>
                </a:solidFill>
              </a:rPr>
              <a:t>95% bootstrap interval 0.5738–0.8802  •  Average precision 0.6359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A2B1D-7470-46F1-A8F9-5CC3CA1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Real-data test set (n=44). Small sample; no external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105906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A1A6A-537B-4D03-9655-2D49F3F4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Local interactive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C5D0-87A5-4441-82A1-9317D002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960E7-C2E6-4EBD-8751-5B1A0075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191B0-576D-4562-94ED-A8A9477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Enter a baseline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AF341-2A4E-43E7-9931-EABD837F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6196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Change EORTC baseline scores and surgery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53E9-1FA0-4E10-9285-0F806D40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04975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F867-E912-4836-B160-73EE037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D80"/>
                </a:solidFill>
              </a:defRPr>
            </a:pPr>
            <a:r>
              <a:rPr sz="2250" b="1">
                <a:solidFill>
                  <a:srgbClr val="007D80"/>
                </a:solidFill>
              </a:rPr>
              <a:t>View an illustrative probability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C4DD7-3A80-48FF-9632-D4243B8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333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086"/>
                </a:solidFill>
              </a:defRPr>
            </a:pPr>
            <a:r>
              <a:rPr sz="1725" b="0">
                <a:solidFill>
                  <a:srgbClr val="557086"/>
                </a:solidFill>
              </a:rPr>
              <a:t>The browser calculates a logistic-regression output from the public cohort. Inputs remain local.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E5EC3-DAC4-4FD0-96D8-5AEC2AEA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Run: python -m http.server 8000 --directory docs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7DFDE-1860-4DD2-AF8B-323EA8E1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Open http://localhost:8000 after running the server from the repository root.</a:t>
            </a:r>
          </a:p>
        </p:txBody>
      </p:sp>
    </p:spTree>
    <p:extLst>
      <p:ext uri="{BB962C8B-B14F-4D97-AF65-F5344CB8AC3E}">
        <p14:creationId xmlns:p14="http://schemas.microsoft.com/office/powerpoint/2010/main" val="20329247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2CD1C-4208-4080-B335-71A263AB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Interpretation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BBC88-406B-4B68-AAFA-5E88462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7775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9C6A7-2A21-41B9-8B10-6FFAB9A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0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57086"/>
                </a:solidFill>
              </a:defRPr>
            </a:pPr>
            <a:r>
              <a:rPr sz="1050" b="0">
                <a:solidFill>
                  <a:srgbClr val="5570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E78AB-2E4A-4C4D-9206-4A4BF80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1D02F-BD67-48D1-B501-5CB915C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The held-out test set contains only 44 patients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8F6F8-9DD5-4DD6-856F-CB326F2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E1C06-67C9-427E-AAB5-49E481B9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Missing follow-up surveys may bias the paired 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D9A2E-6FB3-495A-8E4F-AC33BA6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F0651-BCF7-42F1-88BF-447C975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The outcome differs from the Stanford PROMIS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211C2-649B-4EAA-A11E-950776F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D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2C5C0-D773-4731-951D-FA7ABF45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External validation and calibration are still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8C43F-CEF2-490D-8CB2-D5142C5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32B55-80CF-4FF0-B282-830CDBD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D80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D80"/>
                </a:solidFill>
              </a:defRPr>
            </a:pPr>
            <a:r>
              <a:rPr sz="2100" b="1">
                <a:solidFill>
                  <a:srgbClr val="007D80"/>
                </a:solidFill>
              </a:rPr>
              <a:t>Educational model only — never use this probability to guide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658F9-7D28-4370-A077-F00B90B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76975"/>
            <a:ext cx="1000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570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57086"/>
                </a:solidFill>
              </a:defRPr>
            </a:pPr>
            <a:r>
              <a:rPr sz="825" b="0">
                <a:solidFill>
                  <a:srgbClr val="557086"/>
                </a:solidFill>
              </a:rPr>
              <a:t>Sources: Carmona-Bayonas et al. (2021); EORTC QLQ-C30 interpretation guidance.</a:t>
            </a:r>
          </a:p>
        </p:txBody>
      </p:sp>
    </p:spTree>
    <p:extLst>
      <p:ext uri="{BB962C8B-B14F-4D97-AF65-F5344CB8AC3E}">
        <p14:creationId xmlns:p14="http://schemas.microsoft.com/office/powerpoint/2010/main" val="1817370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2026-10-08T12:52:05.5930000Z</dcterms:created>
  <dcterms:modified xsi:type="dcterms:W3CDTF">2026-10-08T12:52:05.5930000Z</dcterms:modified>
</coreProperties>
</file>